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71" r:id="rId11"/>
    <p:sldId id="272" r:id="rId12"/>
    <p:sldId id="273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5.xml"/><Relationship Id="rId7" Type="http://schemas.openxmlformats.org/officeDocument/2006/relationships/image" Target="../media/image21.png"/><Relationship Id="rId6" Type="http://schemas.openxmlformats.org/officeDocument/2006/relationships/tags" Target="../tags/tag4.xml"/><Relationship Id="rId5" Type="http://schemas.openxmlformats.org/officeDocument/2006/relationships/image" Target="../media/image20.png"/><Relationship Id="rId4" Type="http://schemas.openxmlformats.org/officeDocument/2006/relationships/tags" Target="../tags/tag3.xml"/><Relationship Id="rId3" Type="http://schemas.openxmlformats.org/officeDocument/2006/relationships/image" Target="../media/image19.png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8.png"/><Relationship Id="rId2" Type="http://schemas.openxmlformats.org/officeDocument/2006/relationships/tags" Target="../tags/tag2.xml"/><Relationship Id="rId19" Type="http://schemas.openxmlformats.org/officeDocument/2006/relationships/image" Target="../media/image27.png"/><Relationship Id="rId18" Type="http://schemas.openxmlformats.org/officeDocument/2006/relationships/image" Target="../media/image26.png"/><Relationship Id="rId17" Type="http://schemas.openxmlformats.org/officeDocument/2006/relationships/tags" Target="../tags/tag10.xml"/><Relationship Id="rId16" Type="http://schemas.openxmlformats.org/officeDocument/2006/relationships/image" Target="../media/image25.png"/><Relationship Id="rId15" Type="http://schemas.openxmlformats.org/officeDocument/2006/relationships/tags" Target="../tags/tag9.xml"/><Relationship Id="rId14" Type="http://schemas.openxmlformats.org/officeDocument/2006/relationships/image" Target="../media/image24.png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23.png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734060"/>
            <a:ext cx="9507855" cy="3401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97025" y="4906645"/>
            <a:ext cx="4064000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12110120   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赵钊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Date: 2025.5.12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97025" y="4135755"/>
            <a:ext cx="2124075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SIGMOD2025</a:t>
            </a:r>
            <a:endParaRPr lang="en-US" altLang="zh-CN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2980" y="3549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2980" y="942340"/>
            <a:ext cx="10271125" cy="275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Learning-based Query Optimizer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(I) Learned estimator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learning-based models --&gt; more accurate estimates of intermediate cardinalities or plan costs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(II) Learned optimizer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end-to-end learned query optimizer, search-based plan generator and a learned value network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(III) Learned optimizer enhancer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generates multiple query plan candidates, selects the best one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75" y="3914775"/>
            <a:ext cx="8268335" cy="266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82980" y="1040765"/>
            <a:ext cx="1041908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Two representative learned optimizer enhancers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Bao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hints --&gt; more plan candidates --&gt; Tree-CNN choose the best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Lero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swinging the estimated cardinalities --&gt;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more plan candidates --&gt;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learning-to-rank model choose the best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2980" y="3237230"/>
            <a:ext cx="10419080" cy="2184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Challenges: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(i)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Plan Exploration Space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enumerate all of the plan candidates IMPOSSIBLE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(ii)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Plan Representation Method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plan candidate --&gt; a single vector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(iii) </a:t>
            </a: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Model Training Objective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the loss function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9085" y="4871720"/>
            <a:ext cx="6513195" cy="1882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82980" y="227330"/>
            <a:ext cx="10419080" cy="3941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Plan Exploration Space: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Affecting the join orders indirectly --&gt; Change the plan structure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Diversity of the generated plan candidates is limited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Plan Representation Method: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Bao &amp; Lero --&gt; Tree-CNN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Does NOT consider global structure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Model Training Objective (Loss Function):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Bao --&gt; MSE of the execution time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Lero --&gt; cross-entropy loss to learn the pair-wise rank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Do NOT consider the influence of different samples on the overall performance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82980" y="1411605"/>
            <a:ext cx="10419080" cy="2885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Contribution: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Athena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, an effective learning-based framework of query optimizer enhancer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An order-centric plan explorer, which explicitly changes the root node of the join plan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Tree-Mamba, a new tree structure representation method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A time-weighted loss function, exact execution time + the learning-to-rank method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Integrate Athena int PostgreSQL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2980" y="534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Overview of Athena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2980" y="1056005"/>
            <a:ext cx="9912985" cy="275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454785"/>
            <a:ext cx="5917565" cy="41535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01230" y="1903730"/>
            <a:ext cx="4114165" cy="1819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(i) Order-centric plan explorer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(ii) Tree-Mamba plan comparator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(iii) Time-weighted model trainer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2980" y="534035"/>
            <a:ext cx="4692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Order-centric Plan Explorer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42660" y="1407160"/>
            <a:ext cx="5725795" cy="3477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Directly change the structures of the candidate plans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can be seamlessly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Only enumerates the top-level (root node)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Advantages: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Integrated into the conventional query optimizer, without extra overhead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The diversity of the generated candidate plans is better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970" y="1407160"/>
            <a:ext cx="4598035" cy="3987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35000" y="476250"/>
            <a:ext cx="60026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Tree-Mamba Plan Comparator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35" y="1097915"/>
            <a:ext cx="6367780" cy="2331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93610" y="1097915"/>
            <a:ext cx="4272915" cy="2108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 query plan --&gt; A tree of vectors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--MLP--&gt; Predict their costs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Featurizer is IMPORTANT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such as Tree-CNN, Tree-LSTM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05" y="3504565"/>
            <a:ext cx="5402580" cy="30194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93610" y="1097915"/>
            <a:ext cx="4272915" cy="2472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A query plan --&gt; A tree of vectors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--MLP--&gt; Predict their costs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Featurizer is IMPORTANT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such as Tree-CNN, Tree-LSTM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43650" y="3390265"/>
            <a:ext cx="5444490" cy="2947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Tree-CNN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parent node * children nodes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max pool: capture the global info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Tree-RNN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storing a hidden state representing the history at each step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101725" y="628015"/>
            <a:ext cx="8573135" cy="2127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Mamba network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short causal CNN + linear RNN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(i) linear RNN --&gt; global sequence information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(ii) causal CNN --&gt; local sequence information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(iii) larger hidden state than traditional RNN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70" y="2649855"/>
            <a:ext cx="9965690" cy="3832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715" y="1196975"/>
            <a:ext cx="5736590" cy="40697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496685" y="442595"/>
            <a:ext cx="5238750" cy="206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Linear layer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converts representation --&gt; hidden representation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Tree-Mamba Net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Mamba layer + Feed Forward layer + Mamba layer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6685" y="2696210"/>
            <a:ext cx="5238750" cy="1117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skip connections &amp; layer normalization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305" y="3315335"/>
            <a:ext cx="2319655" cy="3073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96685" y="4152265"/>
            <a:ext cx="5008245" cy="20135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Feed Forward layer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Gated Linear Unit(GLU)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     element-wise product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SiLU: Sigmoid Linear Unit activation function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85" y="4717415"/>
            <a:ext cx="2687955" cy="3333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145" y="5266690"/>
            <a:ext cx="263525" cy="2559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56565" y="575945"/>
            <a:ext cx="4114165" cy="530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Tree-Mamba Architecture in Athena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25" y="864235"/>
            <a:ext cx="2372995" cy="17875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7400" y="295275"/>
            <a:ext cx="18072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Mamba layer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55" y="952500"/>
            <a:ext cx="2904490" cy="1219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0905" y="3011170"/>
            <a:ext cx="5505450" cy="1954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Tree-Conv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Applies convolution to the hidden representations of nodes                    , guided by the local tree structure indices                    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305" y="3653155"/>
            <a:ext cx="1148715" cy="2978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345" y="3950970"/>
            <a:ext cx="1143000" cy="304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r="2583"/>
          <a:stretch>
            <a:fillRect/>
          </a:stretch>
        </p:blipFill>
        <p:spPr>
          <a:xfrm>
            <a:off x="1008380" y="4358005"/>
            <a:ext cx="1490345" cy="6508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0905" y="5041582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algn="l"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Less matrix multiplication than traditional Tree-CNN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Employs 4 kernels instead of the 3 kernels used in traditional Tree-CNN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49695" y="4066540"/>
            <a:ext cx="5505450" cy="2358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Tree-SSM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Processes each level of the tree sequentially, bottom --upward--&gt; root node.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- For each level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Retrieves and merges the hidden states from the children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Update the hidden states of the node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695" y="68580"/>
            <a:ext cx="4055745" cy="39630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2980" y="812800"/>
            <a:ext cx="5019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Time-weighted Model Trainer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82980" y="1407160"/>
            <a:ext cx="5271135" cy="445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Lero: 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Ignore execution latency of a workload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Athena: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weight       is defined as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               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is the temperature coefficient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𝜏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= 1, mainly optimizes overall latency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𝜏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= ∞, reduces to the standard cross-entropy loss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58950" y="1553210"/>
            <a:ext cx="2013585" cy="4165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63750" y="2780030"/>
            <a:ext cx="2914015" cy="1137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51025" y="4385310"/>
            <a:ext cx="312420" cy="2787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79495" y="4226560"/>
            <a:ext cx="1754505" cy="4375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34415" y="4716145"/>
            <a:ext cx="988695" cy="39814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6599555" y="1407160"/>
            <a:ext cx="5113020" cy="5003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Replacing the log P with TaiLr(P)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             balance between the fast convergence provided by log P and the alignment degree to L′(B) provided by P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599555" y="2068830"/>
            <a:ext cx="2926080" cy="10077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9628505" y="2312670"/>
            <a:ext cx="2339340" cy="5200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656070" y="3372485"/>
            <a:ext cx="934085" cy="3441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56070" y="4863465"/>
            <a:ext cx="2395220" cy="3670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56070" y="5297170"/>
            <a:ext cx="2018030" cy="2959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2980" y="770255"/>
            <a:ext cx="4692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Evaluation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2980" y="1409065"/>
            <a:ext cx="10117455" cy="3808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Experimental Configuration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Intel(R) Xeon(R) Gold 5122 CPU (3.6 GHz, 16 cores), 480 GB of DDR4 RAM, two NVIDIA TITAN Xp GPUs, Ubuntu Linux 20.04 LTS.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Compared Competitors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Bao, Lero, LOGER(representative learned optimizer), the conventional query optimizer in PostgreSQL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Tested Benchmarks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: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JOB, STATS, TPC-DS and DSB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04140" y="114300"/>
            <a:ext cx="333565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Overall Performance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" y="600075"/>
            <a:ext cx="7170420" cy="6111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560" y="1311275"/>
            <a:ext cx="4783455" cy="18821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50" y="3338830"/>
            <a:ext cx="4927600" cy="14344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491490" y="104775"/>
            <a:ext cx="235331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Effectiveness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74298"/>
          <a:stretch>
            <a:fillRect/>
          </a:stretch>
        </p:blipFill>
        <p:spPr>
          <a:xfrm>
            <a:off x="491490" y="1094105"/>
            <a:ext cx="10310495" cy="16116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1490" y="543560"/>
            <a:ext cx="487553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Effect of Order-centric Explorer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1490" y="2705735"/>
            <a:ext cx="487553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Effect of Tree-Mamba Plan Comparator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65" y="3144520"/>
            <a:ext cx="10057765" cy="16725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91490" y="4721860"/>
            <a:ext cx="4875530" cy="550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Effect of Time-weighted Model Trainer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" y="5255895"/>
            <a:ext cx="10136505" cy="14420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82980" y="1337945"/>
            <a:ext cx="4692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2980" y="1859915"/>
            <a:ext cx="10117455" cy="313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Athena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, a learned optimizer enhancer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Order-centric plan explorer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Tree-Mamba plan comparator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 Time-weighted model trainer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Experiments.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Athena better than the existing learned optimizer enhancers.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Future plan.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Utilize Athena to improve the query processing performance of other DBMSs.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23235" y="3106420"/>
            <a:ext cx="6146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Thanks for Listening!   Q &amp; A</a:t>
            </a:r>
            <a:endParaRPr lang="en-US" altLang="zh-CN" sz="3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2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3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4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5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6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7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8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9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ags/tag10.xml><?xml version="1.0" encoding="utf-8"?>
<p:tagLst xmlns:p="http://schemas.openxmlformats.org/presentationml/2006/main">
  <p:tag name="KSO_WM_DIAGRAM_VIRTUALLY_FRAME" val="{&quot;height&quot;:394,&quot;left&quot;:77.4,&quot;top&quot;:110.8,&quot;width&quot;:864.9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4551</Words>
  <Application>WPS 演示</Application>
  <PresentationFormat>宽屏</PresentationFormat>
  <Paragraphs>172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BatangChe</vt:lpstr>
      <vt:lpstr>Segoe Print</vt:lpstr>
      <vt:lpstr>LinLibertineT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Kurumi狂三</cp:lastModifiedBy>
  <cp:revision>79</cp:revision>
  <dcterms:created xsi:type="dcterms:W3CDTF">2023-08-09T12:44:00Z</dcterms:created>
  <dcterms:modified xsi:type="dcterms:W3CDTF">2025-05-12T10:49:23Z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