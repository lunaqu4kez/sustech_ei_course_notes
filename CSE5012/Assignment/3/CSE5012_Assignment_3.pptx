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315" r:id="rId4"/>
    <p:sldId id="257" r:id="rId5"/>
    <p:sldId id="319" r:id="rId6"/>
    <p:sldId id="299" r:id="rId7"/>
    <p:sldId id="320" r:id="rId8"/>
    <p:sldId id="321" r:id="rId9"/>
    <p:sldId id="322" r:id="rId10"/>
    <p:sldId id="317" r:id="rId11"/>
    <p:sldId id="318" r:id="rId12"/>
    <p:sldId id="307" r:id="rId13"/>
    <p:sldId id="316" r:id="rId14"/>
    <p:sldId id="308" r:id="rId15"/>
    <p:sldId id="310"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093970" y="4665980"/>
            <a:ext cx="2004695" cy="71310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Date: 2025.12.19</a:t>
            </a:r>
            <a:endParaRPr lang="en-US" altLang="zh-CN" sz="20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490345" y="1690370"/>
            <a:ext cx="9210675" cy="2395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21485" y="1946275"/>
            <a:ext cx="8749030" cy="1972945"/>
          </a:xfrm>
          <a:prstGeom prst="rect">
            <a:avLst/>
          </a:prstGeom>
        </p:spPr>
      </p:pic>
      <p:sp>
        <p:nvSpPr>
          <p:cNvPr id="4" name="文本框 3"/>
          <p:cNvSpPr txBox="1"/>
          <p:nvPr/>
        </p:nvSpPr>
        <p:spPr>
          <a:xfrm>
            <a:off x="2427605" y="4215130"/>
            <a:ext cx="4149725" cy="71310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IEEE Evolutionary </a:t>
            </a:r>
            <a:r>
              <a:rPr lang="en-US" altLang="zh-CN" sz="2000">
                <a:latin typeface="Times New Roman" panose="02020603050405020304" charset="0"/>
                <a:cs typeface="Times New Roman" panose="02020603050405020304" charset="0"/>
              </a:rPr>
              <a:t>Computation 2025</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788035"/>
            <a:ext cx="4064000"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Introduction</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895475"/>
            <a:ext cx="10117455" cy="352361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 Multi-modal optimization is a challenging problem where traditional methods often fail</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Evolution Strategies show strong potential for such problems, but their performance depends critically on population size selection</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This paper introduces a frozen noise model that provides a theoretical framework for determining optimal population sizes in multi-modal landscapes</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788035"/>
            <a:ext cx="4064000"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Background</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667510"/>
            <a:ext cx="10117455" cy="460692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Multi-recombinant Evolution Strategies </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including variants using σ self-adaptation (σSA) and cumulative step-size adaptation (CSA)</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3 classic multimodal benchmark functions:</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Rastrigin: Exhibiting an exponential number of local optima</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Bohachevsky: Presenting a hyper ellipsoidal global structure</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Ackley: Infinitely many local optima and a nonlinear decaying global component.</a:t>
            </a:r>
            <a:endParaRPr lang="en-US" altLang="zh-CN" sz="20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5142230" y="1846580"/>
            <a:ext cx="1657985" cy="3079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13435" y="427355"/>
            <a:ext cx="8263890" cy="953135"/>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Proposed Algorithm: </a:t>
            </a:r>
            <a:endParaRPr lang="en-US" altLang="zh-CN" sz="2800" b="1">
              <a:latin typeface="Times New Roman" panose="02020603050405020304" charset="0"/>
              <a:cs typeface="Times New Roman" panose="02020603050405020304" charset="0"/>
            </a:endParaRPr>
          </a:p>
          <a:p>
            <a:r>
              <a:rPr lang="en-US" altLang="zh-CN" sz="2800" b="1">
                <a:latin typeface="Times New Roman" panose="02020603050405020304" charset="0"/>
                <a:cs typeface="Times New Roman" panose="02020603050405020304" charset="0"/>
              </a:rPr>
              <a:t>Frozen Noise Model &amp; Population Sizing Derivation</a:t>
            </a:r>
            <a:endParaRPr lang="en-US" altLang="zh-CN" sz="2800" b="1">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673100" y="1852930"/>
            <a:ext cx="4698365" cy="3691890"/>
          </a:xfrm>
          <a:prstGeom prst="rect">
            <a:avLst/>
          </a:prstGeom>
        </p:spPr>
      </p:pic>
      <p:pic>
        <p:nvPicPr>
          <p:cNvPr id="3" name="图片 2"/>
          <p:cNvPicPr>
            <a:picLocks noChangeAspect="1"/>
          </p:cNvPicPr>
          <p:nvPr/>
        </p:nvPicPr>
        <p:blipFill>
          <a:blip r:embed="rId2"/>
          <a:stretch>
            <a:fillRect/>
          </a:stretch>
        </p:blipFill>
        <p:spPr>
          <a:xfrm>
            <a:off x="6147435" y="1852930"/>
            <a:ext cx="4219575" cy="36925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13435" y="638175"/>
            <a:ext cx="8263890"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Frozen Noise Constuction</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813435" y="1767840"/>
            <a:ext cx="10070465" cy="4027170"/>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Decompose a complex multimodal function: </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A globally smooth “skeleton” component, a series of local fluctuating “noise” components</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A relatively simple sphere model optimization problem, with the sphere model superimposed</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by distance-dependent noise</a:t>
            </a:r>
            <a:endParaRPr lang="en-US" altLang="zh-CN" sz="2000">
              <a:latin typeface="Times New Roman" panose="02020603050405020304" charset="0"/>
              <a:cs typeface="Times New Roman" panose="02020603050405020304" charset="0"/>
            </a:endParaRPr>
          </a:p>
        </p:txBody>
      </p:sp>
      <p:pic>
        <p:nvPicPr>
          <p:cNvPr id="6" name="图片 5"/>
          <p:cNvPicPr>
            <a:picLocks noChangeAspect="1"/>
          </p:cNvPicPr>
          <p:nvPr/>
        </p:nvPicPr>
        <p:blipFill>
          <a:blip r:embed="rId1"/>
          <a:stretch>
            <a:fillRect/>
          </a:stretch>
        </p:blipFill>
        <p:spPr>
          <a:xfrm>
            <a:off x="4264025" y="2940685"/>
            <a:ext cx="2929255" cy="488315"/>
          </a:xfrm>
          <a:prstGeom prst="rect">
            <a:avLst/>
          </a:prstGeom>
        </p:spPr>
      </p:pic>
      <p:pic>
        <p:nvPicPr>
          <p:cNvPr id="7" name="图片 6"/>
          <p:cNvPicPr>
            <a:picLocks noChangeAspect="1"/>
          </p:cNvPicPr>
          <p:nvPr/>
        </p:nvPicPr>
        <p:blipFill>
          <a:blip r:embed="rId2"/>
          <a:stretch>
            <a:fillRect/>
          </a:stretch>
        </p:blipFill>
        <p:spPr>
          <a:xfrm>
            <a:off x="4180205" y="4704715"/>
            <a:ext cx="3336925" cy="426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13435" y="638175"/>
            <a:ext cx="8263890"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Steady-State Behavior Analysis</a:t>
            </a:r>
            <a:endParaRPr lang="en-US" altLang="zh-CN" sz="2800" b="1">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5" name="文本框 4"/>
              <p:cNvSpPr txBox="1"/>
              <p:nvPr/>
            </p:nvSpPr>
            <p:spPr>
              <a:xfrm>
                <a:off x="813435" y="1457325"/>
                <a:ext cx="10070465" cy="467804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Does </a:t>
                </a:r>
                <a:r>
                  <a:rPr lang="en-US" altLang="zh-CN" sz="2000" b="1">
                    <a:latin typeface="Times New Roman" panose="02020603050405020304" charset="0"/>
                    <a:cs typeface="Times New Roman" panose="02020603050405020304" charset="0"/>
                  </a:rPr>
                  <a:t>NOT</a:t>
                </a:r>
                <a:r>
                  <a:rPr lang="en-US" altLang="zh-CN" sz="2000">
                    <a:latin typeface="Times New Roman" panose="02020603050405020304" charset="0"/>
                    <a:cs typeface="Times New Roman" panose="02020603050405020304" charset="0"/>
                  </a:rPr>
                  <a:t> continuously converge to the optimal solution, but reaches a stable state at a certain distance from the optimum</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Steady-state Distance </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𝑅</m:t>
                        </m:r>
                      </m:e>
                      <m:sub>
                        <m:r>
                          <a:rPr lang="en-US" altLang="zh-CN" sz="2000" i="1">
                            <a:latin typeface="Cambria Math" panose="02040503050406030204" charset="0"/>
                            <a:cs typeface="Cambria Math" panose="02040503050406030204" charset="0"/>
                          </a:rPr>
                          <m:t>𝑠𝑡</m:t>
                        </m:r>
                      </m:sub>
                    </m:sSub>
                  </m:oMath>
                </a14:m>
                <a:endParaRPr lang="en-US" altLang="zh-CN" sz="2000" i="1">
                  <a:latin typeface="Cambria Math" panose="02040503050406030204" charset="0"/>
                  <a:cs typeface="Cambria Math" panose="020405030504060302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𝜎</m:t>
                        </m:r>
                      </m:e>
                      <m:sub>
                        <m:r>
                          <a:rPr lang="en-US" altLang="zh-CN" sz="2000" i="1">
                            <a:latin typeface="Cambria Math" panose="02040503050406030204" charset="0"/>
                            <a:cs typeface="Cambria Math" panose="02040503050406030204" charset="0"/>
                          </a:rPr>
                          <m:t>𝐸𝑆</m:t>
                        </m:r>
                      </m:sub>
                    </m:sSub>
                  </m:oMath>
                </a14:m>
                <a:r>
                  <a:rPr lang="en-US" altLang="zh-CN" sz="2000">
                    <a:latin typeface="Times New Roman" panose="02020603050405020304" charset="0"/>
                    <a:cs typeface="Times New Roman" panose="02020603050405020304" charset="0"/>
                  </a:rPr>
                  <a:t>(R) is a function of the distance R, representing the ”noise” strength caused by local fluctuations at a distance R from the global optimum</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a is the sphere model coefficient</a:t>
                </a:r>
                <a:endParaRPr lang="en-US" altLang="zh-CN" sz="2000">
                  <a:latin typeface="Times New Roman" panose="02020603050405020304" charset="0"/>
                  <a:cs typeface="Times New Roman" panose="02020603050405020304" charset="0"/>
                </a:endParaRPr>
              </a:p>
              <a:p>
                <a:pPr indent="0" fontAlgn="auto">
                  <a:lnSpc>
                    <a:spcPct val="150000"/>
                  </a:lnSpc>
                </a:pP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𝑐</m:t>
                        </m:r>
                      </m:e>
                      <m:sub>
                        <m:r>
                          <a:rPr lang="en-US" altLang="zh-CN" sz="2000" i="1">
                            <a:latin typeface="Cambria Math" panose="02040503050406030204" charset="0"/>
                            <a:cs typeface="Cambria Math" panose="02040503050406030204" charset="0"/>
                          </a:rPr>
                          <m:t>𝜇</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𝜇</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𝜎</m:t>
                        </m:r>
                      </m:sub>
                    </m:sSub>
                  </m:oMath>
                </a14:m>
                <a:r>
                  <a:rPr lang="en-US" altLang="zh-CN" sz="2000">
                    <a:latin typeface="Times New Roman" panose="02020603050405020304" charset="0"/>
                    <a:cs typeface="Times New Roman" panose="02020603050405020304" charset="0"/>
                  </a:rPr>
                  <a:t> is a constant related to the recombination strategy</a:t>
                </a:r>
                <a:endParaRPr lang="en-US" altLang="zh-CN" sz="2000">
                  <a:latin typeface="Times New Roman" panose="02020603050405020304" charset="0"/>
                  <a:cs typeface="Times New Roman" panose="020206030504050203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813435" y="1457325"/>
                <a:ext cx="10070465" cy="4678045"/>
              </a:xfrm>
              <a:prstGeom prst="rect">
                <a:avLst/>
              </a:prstGeom>
              <a:blipFill rotWithShape="1">
                <a:blip r:embed="rId1"/>
                <a:stretch>
                  <a:fillRect/>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4260215" y="2872105"/>
            <a:ext cx="2037080" cy="7835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13435" y="638175"/>
            <a:ext cx="8263890"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Population Size Prediction Formulas</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813435" y="1457325"/>
            <a:ext cx="10070465" cy="467804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To achieve a specified success probability, there exists a specific relationship between the required ES population size and problem dimensionality</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For the Rastrigin and Bohachevsky functions, this relationship is sublinear.</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For the Ackley function, if the initial point is appropriately chosen, the required population size depends only weakly on dimensionality. If the initial point is too far from the global optimum, may even exhibit exponential difficulty growth.</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517525"/>
            <a:ext cx="474535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Experiment</a:t>
            </a:r>
            <a:endParaRPr lang="en-US" altLang="zh-CN" sz="2800" b="1">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3428365" y="1123315"/>
            <a:ext cx="5335905" cy="1934210"/>
          </a:xfrm>
          <a:prstGeom prst="rect">
            <a:avLst/>
          </a:prstGeom>
        </p:spPr>
      </p:pic>
      <p:sp>
        <p:nvSpPr>
          <p:cNvPr id="3" name="文本框 2"/>
          <p:cNvSpPr txBox="1"/>
          <p:nvPr/>
        </p:nvSpPr>
        <p:spPr>
          <a:xfrm>
            <a:off x="973455" y="2990850"/>
            <a:ext cx="9359265" cy="53911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Residual distributions approximate Gaussian, supporting model assumptions.</a:t>
            </a:r>
            <a:endParaRPr lang="en-US" altLang="zh-CN" sz="2000">
              <a:latin typeface="Times New Roman" panose="02020603050405020304" charset="0"/>
              <a:cs typeface="Times New Roman" panose="02020603050405020304" charset="0"/>
            </a:endParaRPr>
          </a:p>
        </p:txBody>
      </p:sp>
      <p:pic>
        <p:nvPicPr>
          <p:cNvPr id="6" name="图片 5"/>
          <p:cNvPicPr>
            <a:picLocks noChangeAspect="1"/>
          </p:cNvPicPr>
          <p:nvPr/>
        </p:nvPicPr>
        <p:blipFill>
          <a:blip r:embed="rId2"/>
          <a:stretch>
            <a:fillRect/>
          </a:stretch>
        </p:blipFill>
        <p:spPr>
          <a:xfrm>
            <a:off x="3874770" y="3721100"/>
            <a:ext cx="4442460" cy="2149475"/>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973455" y="6061710"/>
                <a:ext cx="9359265" cy="53911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Parent component distributions match </a:t>
                </a:r>
                <a14:m>
                  <m:oMath xmlns:m="http://schemas.openxmlformats.org/officeDocument/2006/math">
                    <m:r>
                      <m:rPr>
                        <m:sty m:val="p"/>
                      </m:rPr>
                      <a:rPr lang="en-US" altLang="zh-CN" sz="2000">
                        <a:latin typeface="Cambria Math" panose="02040503050406030204" charset="0"/>
                        <a:cs typeface="Cambria Math" panose="02040503050406030204" charset="0"/>
                      </a:rPr>
                      <m:t>N</m:t>
                    </m:r>
                    <m:r>
                      <a:rPr lang="en-US" altLang="zh-CN" sz="2000">
                        <a:latin typeface="Cambria Math" panose="02040503050406030204" charset="0"/>
                        <a:cs typeface="Cambria Math" panose="02040503050406030204" charset="0"/>
                      </a:rPr>
                      <m:t>(0, </m:t>
                    </m:r>
                    <m:sSubSup>
                      <m:sSubSupPr>
                        <m:ctrlPr>
                          <a:rPr lang="en-US" altLang="zh-CN" sz="2000" i="1">
                            <a:latin typeface="Cambria Math" panose="02040503050406030204" charset="0"/>
                            <a:cs typeface="Cambria Math" panose="02040503050406030204" charset="0"/>
                          </a:rPr>
                        </m:ctrlPr>
                      </m:sSubSupPr>
                      <m:e>
                        <m:r>
                          <a:rPr lang="en-US" altLang="zh-CN" sz="2000" i="1">
                            <a:latin typeface="Cambria Math" panose="02040503050406030204" charset="0"/>
                            <a:cs typeface="Cambria Math" panose="02040503050406030204" charset="0"/>
                          </a:rPr>
                          <m:t>𝑅</m:t>
                        </m:r>
                      </m:e>
                      <m:sub>
                        <m:r>
                          <a:rPr lang="en-US" altLang="zh-CN" sz="2000" i="1">
                            <a:latin typeface="Cambria Math" panose="02040503050406030204" charset="0"/>
                            <a:cs typeface="Cambria Math" panose="02040503050406030204" charset="0"/>
                          </a:rPr>
                          <m:t>𝑠𝑡</m:t>
                        </m:r>
                      </m:sub>
                      <m:sup>
                        <m:r>
                          <a:rPr lang="en-US" altLang="zh-CN" sz="2000" i="1">
                            <a:latin typeface="Cambria Math" panose="02040503050406030204" charset="0"/>
                            <a:cs typeface="Cambria Math" panose="02040503050406030204" charset="0"/>
                          </a:rPr>
                          <m:t>2</m:t>
                        </m:r>
                      </m:sup>
                    </m:sSubSup>
                    <m:r>
                      <a:rPr lang="en-US" altLang="zh-CN" sz="2000">
                        <a:latin typeface="Cambria Math" panose="02040503050406030204" charset="0"/>
                        <a:cs typeface="Cambria Math" panose="02040503050406030204" charset="0"/>
                      </a:rPr>
                      <m:t>/</m:t>
                    </m:r>
                    <m:r>
                      <m:rPr>
                        <m:sty m:val="p"/>
                      </m:rPr>
                      <a:rPr lang="en-US" altLang="zh-CN" sz="2000">
                        <a:latin typeface="Cambria Math" panose="02040503050406030204" charset="0"/>
                        <a:cs typeface="Cambria Math" panose="02040503050406030204" charset="0"/>
                      </a:rPr>
                      <m:t>N</m:t>
                    </m:r>
                    <m:r>
                      <a:rPr lang="en-US" altLang="zh-CN" sz="2000">
                        <a:latin typeface="Cambria Math" panose="02040503050406030204" charset="0"/>
                        <a:cs typeface="Cambria Math" panose="02040503050406030204" charset="0"/>
                      </a:rPr>
                      <m:t>)</m:t>
                    </m:r>
                  </m:oMath>
                </a14:m>
                <a:r>
                  <a:rPr lang="en-US" altLang="zh-CN" sz="2000">
                    <a:latin typeface="Times New Roman" panose="02020603050405020304" charset="0"/>
                    <a:cs typeface="Times New Roman" panose="02020603050405020304" charset="0"/>
                  </a:rPr>
                  <a:t> predictions</a:t>
                </a:r>
                <a:endParaRPr lang="en-US" altLang="zh-CN" sz="2000">
                  <a:latin typeface="Times New Roman" panose="02020603050405020304" charset="0"/>
                  <a:cs typeface="Times New Roman" panose="0202060305040502030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973455" y="6061710"/>
                <a:ext cx="9359265" cy="53911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517525"/>
            <a:ext cx="474535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Experiment</a:t>
            </a:r>
            <a:endParaRPr lang="en-US" altLang="zh-CN" sz="2800" b="1">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3" name="文本框 2"/>
              <p:cNvSpPr txBox="1"/>
              <p:nvPr/>
            </p:nvSpPr>
            <p:spPr>
              <a:xfrm>
                <a:off x="973455" y="3602990"/>
                <a:ext cx="9359265" cy="1160780"/>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Ackley function has critical initial distance </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𝑅</m:t>
                        </m:r>
                      </m:e>
                      <m:sub>
                        <m:r>
                          <a:rPr lang="en-US" altLang="zh-CN" sz="2000" i="1">
                            <a:latin typeface="Cambria Math" panose="02040503050406030204" charset="0"/>
                            <a:cs typeface="Cambria Math" panose="02040503050406030204" charset="0"/>
                          </a:rPr>
                          <m:t>𝑐𝑟𝑖𝑡</m:t>
                        </m:r>
                      </m:sub>
                    </m:sSub>
                  </m:oMath>
                </a14:m>
                <a:r>
                  <a:rPr lang="en-US" altLang="zh-CN" sz="2000">
                    <a:latin typeface="Times New Roman" panose="02020603050405020304" charset="0"/>
                    <a:cs typeface="Times New Roman" panose="02020603050405020304" charset="0"/>
                  </a:rPr>
                  <a:t> beyond which convergence probability drops sharply.</a:t>
                </a:r>
                <a:endParaRPr lang="en-US" altLang="zh-CN" sz="2000">
                  <a:latin typeface="Times New Roman" panose="02020603050405020304" charset="0"/>
                  <a:cs typeface="Times New Roman" panose="020206030504050203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73455" y="3602990"/>
                <a:ext cx="9359265" cy="1160780"/>
              </a:xfrm>
              <a:prstGeom prst="rect">
                <a:avLst/>
              </a:prstGeom>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2975610" y="1545590"/>
            <a:ext cx="6240780" cy="21640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557530"/>
            <a:ext cx="660590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Discussion</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239520"/>
            <a:ext cx="9359265" cy="5010785"/>
          </a:xfrm>
          <a:prstGeom prst="rect">
            <a:avLst/>
          </a:prstGeom>
          <a:noFill/>
        </p:spPr>
        <p:txBody>
          <a:bodyPr wrap="square" rtlCol="0">
            <a:noAutofit/>
          </a:bodyPr>
          <a:p>
            <a:pPr indent="0" fontAlgn="auto">
              <a:lnSpc>
                <a:spcPct val="150000"/>
              </a:lnSpc>
            </a:pPr>
            <a:r>
              <a:rPr lang="en-US" altLang="zh-CN" sz="2000" b="1">
                <a:latin typeface="Times New Roman" panose="02020603050405020304" charset="0"/>
                <a:cs typeface="Times New Roman" panose="02020603050405020304" charset="0"/>
              </a:rPr>
              <a:t>Scaling Behavior Analysis</a:t>
            </a:r>
            <a:endParaRPr lang="en-US" altLang="zh-CN" sz="2000" b="1">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Rastrigin and Bohachevsky: The population size grows </a:t>
            </a:r>
            <a:r>
              <a:rPr lang="en-US" altLang="zh-CN" sz="2000" b="1">
                <a:latin typeface="Times New Roman" panose="02020603050405020304" charset="0"/>
                <a:cs typeface="Times New Roman" panose="02020603050405020304" charset="0"/>
              </a:rPr>
              <a:t>sublinearly</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Ackley: Initial point is close to the global optimum, the population size depends only weakly on N, worst case may grows </a:t>
            </a:r>
            <a:r>
              <a:rPr lang="en-US" altLang="zh-CN" sz="2000" b="1">
                <a:latin typeface="Times New Roman" panose="02020603050405020304" charset="0"/>
                <a:cs typeface="Times New Roman" panose="02020603050405020304" charset="0"/>
              </a:rPr>
              <a:t>exponentially</a:t>
            </a:r>
            <a:endParaRPr lang="en-US" altLang="zh-CN" sz="2000" b="1">
              <a:latin typeface="Times New Roman" panose="02020603050405020304" charset="0"/>
              <a:cs typeface="Times New Roman" panose="02020603050405020304" charset="0"/>
            </a:endParaRPr>
          </a:p>
          <a:p>
            <a:pPr indent="0" fontAlgn="auto">
              <a:lnSpc>
                <a:spcPct val="150000"/>
              </a:lnSpc>
            </a:pPr>
            <a:endParaRPr lang="en-US" altLang="zh-CN" sz="2000" b="1">
              <a:latin typeface="Times New Roman" panose="02020603050405020304" charset="0"/>
              <a:cs typeface="Times New Roman" panose="02020603050405020304" charset="0"/>
            </a:endParaRPr>
          </a:p>
          <a:p>
            <a:pPr indent="0" fontAlgn="auto">
              <a:lnSpc>
                <a:spcPct val="150000"/>
              </a:lnSpc>
            </a:pPr>
            <a:r>
              <a:rPr lang="en-US" altLang="zh-CN" sz="2000" b="1">
                <a:latin typeface="Times New Roman" panose="02020603050405020304" charset="0"/>
                <a:cs typeface="Times New Roman" panose="02020603050405020304" charset="0"/>
              </a:rPr>
              <a:t>Implications for Benchmark Design</a:t>
            </a:r>
            <a:endParaRPr lang="en-US" altLang="zh-CN" sz="2000" b="1">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Rastrigin and Bohachevsky exhibit highly similar population size behavior</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The convergence of the Ackley function is highly sensitive to initial point selection</a:t>
            </a:r>
            <a:endParaRPr lang="en-US" altLang="zh-CN" sz="2000">
              <a:latin typeface="Times New Roman" panose="02020603050405020304" charset="0"/>
              <a:cs typeface="Times New Roman" panose="02020603050405020304" charset="0"/>
            </a:endParaRPr>
          </a:p>
          <a:p>
            <a:pPr indent="0" fontAlgn="auto">
              <a:lnSpc>
                <a:spcPct val="150000"/>
              </a:lnSpc>
            </a:pP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557530"/>
            <a:ext cx="660590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Discussion</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239520"/>
            <a:ext cx="9359265" cy="5010785"/>
          </a:xfrm>
          <a:prstGeom prst="rect">
            <a:avLst/>
          </a:prstGeom>
          <a:noFill/>
        </p:spPr>
        <p:txBody>
          <a:bodyPr wrap="square" rtlCol="0">
            <a:noAutofit/>
          </a:bodyPr>
          <a:p>
            <a:pPr indent="0" fontAlgn="auto">
              <a:lnSpc>
                <a:spcPct val="150000"/>
              </a:lnSpc>
            </a:pPr>
            <a:r>
              <a:rPr lang="en-US" altLang="zh-CN" sz="2000" b="1">
                <a:latin typeface="Times New Roman" panose="02020603050405020304" charset="0"/>
                <a:cs typeface="Times New Roman" panose="02020603050405020304" charset="0"/>
              </a:rPr>
              <a:t>Comparison with the Griewank Function</a:t>
            </a:r>
            <a:endParaRPr lang="en-US" altLang="zh-CN" sz="2000" b="1">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Griewank function can also be decomposed into global and residual parts</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Its noise does not follow a Gaussian distribution</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The proposed model is not applicable to such functions</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788035"/>
            <a:ext cx="660590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Conclusion</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426210"/>
            <a:ext cx="9359265" cy="4967605"/>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 Proposed the "frozen noise model," providing the first theoretical explanation for the sublinear population growth of ES in multimodal landscapes.</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Revealed that ES employs a "circling search" strategy, converging rapidly only after entering the global attractor region.</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The population sizing formulas offer a theoretical basis for parameter configuration and benchmark design.</a:t>
            </a:r>
            <a:endParaRPr lang="en-US" altLang="zh-CN" sz="2000">
              <a:latin typeface="Times New Roman" panose="02020603050405020304" charset="0"/>
              <a:cs typeface="Times New Roman" panose="02020603050405020304" charset="0"/>
            </a:endParaRPr>
          </a:p>
          <a:p>
            <a:pPr indent="0" fontAlgn="auto">
              <a:lnSpc>
                <a:spcPct val="150000"/>
              </a:lnSpc>
            </a:pPr>
            <a:r>
              <a:rPr lang="en-US" altLang="zh-CN" sz="2000">
                <a:latin typeface="Times New Roman" panose="02020603050405020304" charset="0"/>
                <a:cs typeface="Times New Roman" panose="02020603050405020304" charset="0"/>
              </a:rPr>
              <a:t>- The model is applicable to spherical global structure functions and can be extended to non-spherical and dynamic scenarios in the future.</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3455" y="788035"/>
            <a:ext cx="6605905" cy="521970"/>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References</a:t>
            </a:r>
            <a:endParaRPr lang="en-US" altLang="zh-CN" sz="2800" b="1">
              <a:latin typeface="Times New Roman" panose="02020603050405020304" charset="0"/>
              <a:cs typeface="Times New Roman" panose="02020603050405020304" charset="0"/>
            </a:endParaRPr>
          </a:p>
        </p:txBody>
      </p:sp>
      <p:sp>
        <p:nvSpPr>
          <p:cNvPr id="5" name="文本框 4"/>
          <p:cNvSpPr txBox="1"/>
          <p:nvPr/>
        </p:nvSpPr>
        <p:spPr>
          <a:xfrm>
            <a:off x="973455" y="1678940"/>
            <a:ext cx="9773285" cy="4251960"/>
          </a:xfrm>
          <a:prstGeom prst="rect">
            <a:avLst/>
          </a:prstGeom>
          <a:noFill/>
        </p:spPr>
        <p:txBody>
          <a:bodyPr wrap="square" rtlCol="0">
            <a:noAutofit/>
          </a:bodyPr>
          <a:p>
            <a:pPr indent="0" fontAlgn="auto">
              <a:lnSpc>
                <a:spcPct val="150000"/>
              </a:lnSpc>
            </a:pPr>
            <a:r>
              <a:rPr lang="en-US" altLang="zh-CN" sz="2000">
                <a:latin typeface="Times New Roman" panose="02020603050405020304" charset="0"/>
                <a:cs typeface="Times New Roman" panose="02020603050405020304" charset="0"/>
              </a:rPr>
              <a:t>[1] L. Schonenberger and H.-G. Beyer, “On a population sizing model for evolution strategies in multimodal landscapes,” IEEE Transactions on Evolutionary Computation, vol. 29, no. 5, pp. 1807–1819, Oct. 2025.</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859655" y="3106420"/>
            <a:ext cx="2472055"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sym typeface="+mn-ea"/>
              </a:rPr>
              <a:t>Thank you!</a:t>
            </a:r>
            <a:endParaRPr lang="en-US" altLang="zh-CN" sz="3600" b="1">
              <a:latin typeface="Times New Roman" panose="02020603050405020304" charset="0"/>
              <a:cs typeface="Times New Roman" panose="02020603050405020304" charset="0"/>
              <a:sym typeface="+mn-ea"/>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3776</Words>
  <Application>WPS 演示</Application>
  <PresentationFormat>宽屏</PresentationFormat>
  <Paragraphs>92</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宋体</vt:lpstr>
      <vt:lpstr>Wingdings</vt:lpstr>
      <vt:lpstr>Times New Roman</vt:lpstr>
      <vt:lpstr>微软雅黑</vt:lpstr>
      <vt:lpstr>Arial Unicode MS</vt:lpstr>
      <vt:lpstr>Calibri</vt:lpstr>
      <vt:lpstr>Cambria Math</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Kurumi狂三</cp:lastModifiedBy>
  <cp:revision>390</cp:revision>
  <dcterms:created xsi:type="dcterms:W3CDTF">2023-08-09T12:44:00Z</dcterms:created>
  <dcterms:modified xsi:type="dcterms:W3CDTF">2025-12-15T10:55:16Z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2052-12.1.0.24034</vt:lpwstr>
  </property>
</Properties>
</file>