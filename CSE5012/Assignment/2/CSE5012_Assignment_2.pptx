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99" r:id="rId5"/>
    <p:sldId id="300" r:id="rId6"/>
    <p:sldId id="311" r:id="rId7"/>
    <p:sldId id="312" r:id="rId8"/>
    <p:sldId id="313" r:id="rId9"/>
    <p:sldId id="314" r:id="rId10"/>
    <p:sldId id="307" r:id="rId11"/>
    <p:sldId id="308" r:id="rId12"/>
    <p:sldId id="310" r:id="rId13"/>
    <p:sldId id="27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93970" y="4665980"/>
            <a:ext cx="200469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Date: 2025.11.14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471"/>
          <a:stretch>
            <a:fillRect/>
          </a:stretch>
        </p:blipFill>
        <p:spPr>
          <a:xfrm>
            <a:off x="1865630" y="1506855"/>
            <a:ext cx="8461375" cy="271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895475"/>
            <a:ext cx="10117455" cy="3523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Challenges in Optimization Problems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Nonlinear, non-differentiable, multimodal, and high-dimensional problems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Limitations of traditional gradient-based methods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Advantages of Differential Evolution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Simple and efficient, with strong global search capability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Requires no gradient information and is easy to implement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4745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Developmen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tal L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ine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951990"/>
            <a:ext cx="6706235" cy="2755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4 main stages: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Foundational Period (1995-1997)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Strategy Exploration Period (Approx. 1997-2006)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Adaptive Development Period (Approx. 2006-2015)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Frontier Exploration Period (Approx. 2015-Present)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23595" y="788035"/>
            <a:ext cx="5506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Foundation Period (1995-1997)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4080" y="1564005"/>
            <a:ext cx="6292215" cy="443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Representative Algorithm: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DE/rand/1/bin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Algorithm Characteristics: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Random selection of individuals for mutation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Binomial crossover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Greedy selection strategy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Performance: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Strong global search capability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Suitable for various continuous optimization problems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1118"/>
          <a:stretch>
            <a:fillRect/>
          </a:stretch>
        </p:blipFill>
        <p:spPr>
          <a:xfrm>
            <a:off x="6535420" y="1564005"/>
            <a:ext cx="5278120" cy="2668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23595" y="788035"/>
            <a:ext cx="10288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Strategy Exploration Period (Approx. 1997-2006)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4080" y="1564005"/>
            <a:ext cx="9410700" cy="443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Representative Algorithms: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DE/best/1, DE/current-to-best/1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Algorithm Comparison: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DE/best/1: Faster convergence but prone to premature convergence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DE/current-to-best/1: Better balanced performance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Research Significance: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Enriched the library of algorithmic strategies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Laid the groundwork for adaptive algorithms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4275" y="3630295"/>
            <a:ext cx="5177790" cy="2365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23595" y="788035"/>
            <a:ext cx="10288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Adaptive Development Period (2006-2015)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4080" y="1564005"/>
            <a:ext cx="9410700" cy="443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Representative Algorithms: JADE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Core Innovations: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Parameter adaptive mechanisms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"Current-to-pbest" strategy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Historical archive mechanism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Advantages of JADE: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Automatic parameter adjustment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Balanced exploration and exploitation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Effective handling of complex multimodal problems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530" y="1753870"/>
            <a:ext cx="4939030" cy="3411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23595" y="788035"/>
            <a:ext cx="10288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Frontier Exploration Period (2015-Present)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4080" y="1564005"/>
            <a:ext cx="9410700" cy="3740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Representative Algorithm: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L-SHADE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Key Technologies: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Linear Population Size Reduction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Success History-based Parameter Adaptation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Performance: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Outstanding performance in CEC competitions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Represents the state-of-the-art in DE performance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0795" y="2459355"/>
            <a:ext cx="4751705" cy="1674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557530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Discussion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385" y="1520825"/>
            <a:ext cx="9442450" cy="39579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557530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Discussion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239520"/>
            <a:ext cx="9359265" cy="5010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Evolution of Exploration-Exploitation Balance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Progressed from strong exploration to intelligent balancing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Adaptive mechanisms play a key role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Transition from "Artisanal" to "Intelligent" Algorithm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Reduced need for manual intervention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Enhanced self-learning capabilities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Continuous Expansion of Application Scope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From numerical optimization to complex engineering problems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Successful applications across multiple domains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Unity of Simplicity and Effectiveness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Conclusion &amp; Future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Work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426210"/>
            <a:ext cx="9359265" cy="4967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Conclusion Summary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Evolved from simple tool to intelligent framework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Continuous performance improvements achieved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Wide applications across various domains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Remains highly influential in evolutionary computation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Future Research Focus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Very large-scale and dynamic optimization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Deeper theoretical analysis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Integration with AI and machine learning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3455" y="788035"/>
            <a:ext cx="6605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678940"/>
            <a:ext cx="9773285" cy="4251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[1] Storn, R., &amp; Price, K. (1997). Differential evolution – a simple and efficient heuristic for global optimization over continuous spaces. Journal of Global Optimization, 11(4), 341–359.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[2] Storn, R. (1996). Minimizing the real functions of the ICEC’96 contest by differential evolution. Technical Report, International Computer Science Institute.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[3] Zhang, J., &amp; Sanderson, A. C. (2009). JADE: Adaptive differential evolution with optional external archive. IEEE Transactions on Evolutionary Computation, 13(5), 945–958.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[4] Tanabe, R., &amp; Fukunaga, A. S. (2014). Improving the search performance of SHADE using linear population size reduction. In Proceedings of the 2014 IEEE Congress on Evolutionary Computation (CEC) (pp. 1658–1665).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59655" y="3106420"/>
            <a:ext cx="2472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 you!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3364</Words>
  <Application>WPS 演示</Application>
  <PresentationFormat>宽屏</PresentationFormat>
  <Paragraphs>102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Kurumi狂三</cp:lastModifiedBy>
  <cp:revision>355</cp:revision>
  <dcterms:created xsi:type="dcterms:W3CDTF">2023-08-09T12:44:00Z</dcterms:created>
  <dcterms:modified xsi:type="dcterms:W3CDTF">2025-11-09T09:42:43Z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2052-12.1.0.23542</vt:lpwstr>
  </property>
</Properties>
</file>